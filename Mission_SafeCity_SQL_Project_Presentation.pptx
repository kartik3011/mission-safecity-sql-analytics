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2" dt="2026-09-11T06:59:13.377"/>
    <p1510:client id="{18ED611B-1F91-3B29-7465-CBB617F02C5E}" v="141" dt="2026-09-10T18:27:42.131"/>
    <p1510:client id="{2571930E-24DE-B008-38B6-E80D1DE1148D}" v="372" dt="2026-09-11T06:57:22.050"/>
    <p1510:client id="{5776D84C-3657-C346-4938-EDDF3F59713D}" v="32" dt="2026-09-10T14:47:38.791"/>
    <p1510:client id="{DBEBFCD5-0D69-A831-A88B-F477D0B31CCF}" v="308" dt="2026-09-10T16:05:08.665"/>
    <p1510:client id="{E17383A1-F2BF-072A-1A96-4C321A6FC866}" v="41" dt="2026-09-10T07:55:03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B2A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Public Transport Harassment</c:v>
                </c:pt>
                <c:pt idx="1">
                  <c:v>Domestic Violence</c:v>
                </c:pt>
                <c:pt idx="2">
                  <c:v>Assault</c:v>
                </c:pt>
                <c:pt idx="3">
                  <c:v>Suspicious Activity</c:v>
                </c:pt>
                <c:pt idx="4">
                  <c:v>Eve Teasing</c:v>
                </c:pt>
                <c:pt idx="5">
                  <c:v>SOS Alert</c:v>
                </c:pt>
                <c:pt idx="6">
                  <c:v>Harassment</c:v>
                </c:pt>
                <c:pt idx="7">
                  <c:v>Stalking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2571</c:v>
                </c:pt>
                <c:pt idx="1">
                  <c:v>2539</c:v>
                </c:pt>
                <c:pt idx="2">
                  <c:v>2526</c:v>
                </c:pt>
                <c:pt idx="3">
                  <c:v>2511</c:v>
                </c:pt>
                <c:pt idx="4">
                  <c:v>2499</c:v>
                </c:pt>
                <c:pt idx="5">
                  <c:v>2495</c:v>
                </c:pt>
                <c:pt idx="6">
                  <c:v>2482</c:v>
                </c:pt>
                <c:pt idx="7">
                  <c:v>2377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88-43B9-9F00-624593E50F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448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065-408F-9B7A-62CB9A286CF0}"/>
              </c:ext>
            </c:extLst>
          </c:dPt>
          <c:dPt>
            <c:idx val="1"/>
            <c:bubble3D val="0"/>
            <c:spPr>
              <a:solidFill>
                <a:srgbClr val="E8A2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65-408F-9B7A-62CB9A286CF0}"/>
              </c:ext>
            </c:extLst>
          </c:dPt>
          <c:dPt>
            <c:idx val="2"/>
            <c:bubble3D val="0"/>
            <c:spPr>
              <a:solidFill>
                <a:srgbClr val="2BA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65-408F-9B7A-62CB9A286CF0}"/>
              </c:ext>
            </c:extLst>
          </c:dPt>
          <c:dPt>
            <c:idx val="3"/>
            <c:bubble3D val="0"/>
            <c:spPr>
              <a:solidFill>
                <a:srgbClr val="1B2A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65-408F-9B7A-62CB9A286CF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065-408F-9B7A-62CB9A286CF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065-408F-9B7A-62CB9A286CF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065-408F-9B7A-62CB9A286CF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065-408F-9B7A-62CB9A286C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  <c:pt idx="3">
                  <c:v>Critical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10013</c:v>
                </c:pt>
                <c:pt idx="1">
                  <c:v>4981</c:v>
                </c:pt>
                <c:pt idx="2">
                  <c:v>2511</c:v>
                </c:pt>
                <c:pt idx="3">
                  <c:v>2495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065-408F-9B7A-62CB9A286C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8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1B2A55"/>
                </a:solidFill>
                <a:latin typeface="Calibri"/>
              </a:defRPr>
            </a:pPr>
            <a:r>
              <a:rPr lang="en-US" sz="1250" b="1" i="0" u="none" strike="noStrike">
                <a:solidFill>
                  <a:srgbClr val="1B2A55"/>
                </a:solidFill>
                <a:latin typeface="Calibri"/>
              </a:rPr>
              <a:t>Incidents by Zone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E8A2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40-4DB1-B70F-2919F6CFD279}"/>
              </c:ext>
            </c:extLst>
          </c:dPt>
          <c:dPt>
            <c:idx val="1"/>
            <c:invertIfNegative val="0"/>
            <c:bubble3D val="0"/>
            <c:spPr>
              <a:solidFill>
                <a:srgbClr val="2BA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40-4DB1-B70F-2919F6CFD279}"/>
              </c:ext>
            </c:extLst>
          </c:dPt>
          <c:dPt>
            <c:idx val="2"/>
            <c:invertIfNegative val="0"/>
            <c:bubble3D val="0"/>
            <c:spPr>
              <a:solidFill>
                <a:srgbClr val="E448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40-4DB1-B70F-2919F6CFD27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240-4DB1-B70F-2919F6CFD279}"/>
              </c:ext>
            </c:extLst>
          </c:dPt>
          <c:dPt>
            <c:idx val="4"/>
            <c:invertIfNegative val="0"/>
            <c:bubble3D val="0"/>
            <c:spPr>
              <a:solidFill>
                <a:srgbClr val="E448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240-4DB1-B70F-2919F6CFD27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1B2A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West</c:v>
                </c:pt>
                <c:pt idx="1">
                  <c:v>North</c:v>
                </c:pt>
                <c:pt idx="2">
                  <c:v>East</c:v>
                </c:pt>
                <c:pt idx="3">
                  <c:v>South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4082</c:v>
                </c:pt>
                <c:pt idx="1">
                  <c:v>4044</c:v>
                </c:pt>
                <c:pt idx="2">
                  <c:v>4023</c:v>
                </c:pt>
                <c:pt idx="3">
                  <c:v>3963</c:v>
                </c:pt>
                <c:pt idx="4">
                  <c:v>3888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240-4DB1-B70F-2919F6CFD2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1B2A55"/>
                </a:solidFill>
                <a:latin typeface="Calibri"/>
              </a:defRPr>
            </a:pPr>
            <a:r>
              <a:rPr lang="en-US" sz="1250" b="1" i="0" u="none" strike="noStrike">
                <a:solidFill>
                  <a:srgbClr val="1B2A55"/>
                </a:solidFill>
                <a:latin typeface="Calibri"/>
              </a:rPr>
              <a:t>Avg Response Time by Zone (min)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Response (min)</c:v>
                </c:pt>
              </c:strCache>
            </c:strRef>
          </c:tx>
          <c:spPr>
            <a:ln w="38100" cap="flat">
              <a:solidFill>
                <a:srgbClr val="E448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4483C"/>
              </a:solidFill>
              <a:ln w="9525" cap="flat">
                <a:solidFill>
                  <a:srgbClr val="E4483C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55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West</c:v>
                </c:pt>
                <c:pt idx="1">
                  <c:v>North</c:v>
                </c:pt>
                <c:pt idx="2">
                  <c:v>East</c:v>
                </c:pt>
                <c:pt idx="3">
                  <c:v>South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11.43</c:v>
                </c:pt>
                <c:pt idx="1">
                  <c:v>6.02</c:v>
                </c:pt>
                <c:pt idx="2">
                  <c:v>16.690000000000001</c:v>
                </c:pt>
                <c:pt idx="3">
                  <c:v>11.48</c:v>
                </c:pt>
                <c:pt idx="4">
                  <c:v>16.38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11-4687-8248-FF4D7467BF5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0-5 Minutes</c:v>
                </c:pt>
              </c:strCache>
            </c:strRef>
          </c:tx>
          <c:spPr>
            <a:solidFill>
              <a:srgbClr val="2BA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575</c:v>
                </c:pt>
                <c:pt idx="1">
                  <c:v>505</c:v>
                </c:pt>
                <c:pt idx="2">
                  <c:v>399</c:v>
                </c:pt>
                <c:pt idx="3">
                  <c:v>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D2-4409-97F5-1C8117760B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6-10 Minutes</c:v>
                </c:pt>
              </c:strCache>
            </c:strRef>
          </c:tx>
          <c:spPr>
            <a:solidFill>
              <a:srgbClr val="E8A2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1603</c:v>
                </c:pt>
                <c:pt idx="1">
                  <c:v>1298</c:v>
                </c:pt>
                <c:pt idx="2">
                  <c:v>1054</c:v>
                </c:pt>
                <c:pt idx="3">
                  <c:v>2475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D2-4409-97F5-1C8117760B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11-20 Minutes</c:v>
                </c:pt>
              </c:strCache>
            </c:strRef>
          </c:tx>
          <c:spPr>
            <a:solidFill>
              <a:srgbClr val="E448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2305</c:v>
                </c:pt>
                <c:pt idx="1">
                  <c:v>1916</c:v>
                </c:pt>
                <c:pt idx="2">
                  <c:v>1502</c:v>
                </c:pt>
                <c:pt idx="3">
                  <c:v>3263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D2-4409-97F5-1C8117760B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20+ Minutes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549</c:v>
                </c:pt>
                <c:pt idx="1">
                  <c:v>483</c:v>
                </c:pt>
                <c:pt idx="2">
                  <c:v>380</c:v>
                </c:pt>
                <c:pt idx="3">
                  <c:v>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4D2-4409-97F5-1C8117760B5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B8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Panic Button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448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7E-4357-85DC-8EEBB5300544}"/>
              </c:ext>
            </c:extLst>
          </c:dPt>
          <c:dPt>
            <c:idx val="1"/>
            <c:bubble3D val="0"/>
            <c:spPr>
              <a:solidFill>
                <a:srgbClr val="D7DE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7E-4357-85DC-8EEBB530054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37E-4357-85DC-8EEBB530054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37E-4357-85DC-8EEBB530054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Activated (Yes)</c:v>
                </c:pt>
                <c:pt idx="1">
                  <c:v>Not Activated (No)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11329</c:v>
                </c:pt>
                <c:pt idx="1">
                  <c:v>8671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37E-4357-85DC-8EEBB53005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B8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Mobile</c:v>
                </c:pt>
                <c:pt idx="1">
                  <c:v>Smartwatch</c:v>
                </c:pt>
                <c:pt idx="2">
                  <c:v>Panic Button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6763</c:v>
                </c:pt>
                <c:pt idx="1">
                  <c:v>6725</c:v>
                </c:pt>
                <c:pt idx="2">
                  <c:v>6512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00-4247-9771-348DC34AD7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Panic-Button Uses</c:v>
                </c:pt>
              </c:strCache>
            </c:strRef>
          </c:tx>
          <c:spPr>
            <a:solidFill>
              <a:srgbClr val="2BA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Mobile</c:v>
                </c:pt>
                <c:pt idx="1">
                  <c:v>Smartwatch</c:v>
                </c:pt>
                <c:pt idx="2">
                  <c:v>Panic Button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3855</c:v>
                </c:pt>
                <c:pt idx="1">
                  <c:v>3801</c:v>
                </c:pt>
                <c:pt idx="2">
                  <c:v>3673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00-4247-9771-348DC34AD7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B8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1B2A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Night</c:v>
                </c:pt>
                <c:pt idx="1">
                  <c:v>Morning</c:v>
                </c:pt>
                <c:pt idx="2">
                  <c:v>Afternoon</c:v>
                </c:pt>
                <c:pt idx="3">
                  <c:v>Evening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7431</c:v>
                </c:pt>
                <c:pt idx="1">
                  <c:v>5032</c:v>
                </c:pt>
                <c:pt idx="2">
                  <c:v>4202</c:v>
                </c:pt>
                <c:pt idx="3">
                  <c:v>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19-42AF-9E0F-887E004651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BA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1B2A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Sunny</c:v>
                </c:pt>
                <c:pt idx="1">
                  <c:v>Foggy</c:v>
                </c:pt>
                <c:pt idx="2">
                  <c:v>Cloudy</c:v>
                </c:pt>
                <c:pt idx="3">
                  <c:v>Rainy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5123</c:v>
                </c:pt>
                <c:pt idx="1">
                  <c:v>5074</c:v>
                </c:pt>
                <c:pt idx="2">
                  <c:v>4921</c:v>
                </c:pt>
                <c:pt idx="3">
                  <c:v>4882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AD-4B78-BEAD-96A8D3080E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E8A2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1B2A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3-5 Witnesses</c:v>
                </c:pt>
                <c:pt idx="1">
                  <c:v>1-2 Witnesses</c:v>
                </c:pt>
                <c:pt idx="2">
                  <c:v>No Witnesses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10043</c:v>
                </c:pt>
                <c:pt idx="1">
                  <c:v>6616</c:v>
                </c:pt>
                <c:pt idx="2">
                  <c:v>3341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D4-408B-9514-77B4F4937F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1B2A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4938</c:v>
                </c:pt>
                <c:pt idx="1">
                  <c:v>4961</c:v>
                </c:pt>
                <c:pt idx="2">
                  <c:v>4964</c:v>
                </c:pt>
                <c:pt idx="3">
                  <c:v>5137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EB-4EA9-B56B-FC99E78DF0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Incidents</c:v>
                </c:pt>
              </c:strCache>
            </c:strRef>
          </c:tx>
          <c:spPr>
            <a:ln w="38100" cap="flat">
              <a:solidFill>
                <a:srgbClr val="E4483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4483C"/>
              </a:solidFill>
              <a:ln w="9525" cap="flat">
                <a:solidFill>
                  <a:srgbClr val="E4483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B2A55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4938</c:v>
                </c:pt>
                <c:pt idx="1">
                  <c:v>9899</c:v>
                </c:pt>
                <c:pt idx="2">
                  <c:v>14863</c:v>
                </c:pt>
                <c:pt idx="3">
                  <c:v>20000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5D-4EE1-A369-2551C7DC06C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67C00-98F1-4629-BC44-224D4723B4E1}" type="datetimeFigureOut"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A7007-09A6-4AAA-8F69-0877375F78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2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8535-8206-F422-EF8D-EA5CCCF7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5C10D-6325-37E0-8B70-91ED53F1D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18F96-2B37-918B-1B5C-7919A1DCA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DC08B-E2E1-F8E5-32FC-D4E50B5FE0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3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hyperlink" Target="https://github.com/Kartik3011/Mission-SafeCity-SQL-Analytics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38227" y="5061584"/>
            <a:ext cx="4208292" cy="4240560"/>
          </a:xfrm>
          <a:prstGeom prst="ellipse">
            <a:avLst/>
          </a:prstGeom>
          <a:solidFill>
            <a:srgbClr val="1B2A55">
              <a:alpha val="60000"/>
            </a:srgbClr>
          </a:solidFill>
          <a:ln>
            <a:solidFill>
              <a:srgbClr val="00B0F0"/>
            </a:solidFill>
          </a:ln>
        </p:spPr>
      </p:sp>
      <p:sp>
        <p:nvSpPr>
          <p:cNvPr id="3" name="Shape 1"/>
          <p:cNvSpPr/>
          <p:nvPr/>
        </p:nvSpPr>
        <p:spPr>
          <a:xfrm>
            <a:off x="10216515" y="5610700"/>
            <a:ext cx="3007044" cy="2995138"/>
          </a:xfrm>
          <a:prstGeom prst="ellipse">
            <a:avLst/>
          </a:prstGeom>
          <a:solidFill>
            <a:srgbClr val="2BA6A0">
              <a:alpha val="12000"/>
            </a:srgbClr>
          </a:solidFill>
          <a:ln w="12700">
            <a:solidFill>
              <a:srgbClr val="2BA6A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6566" y="6080283"/>
            <a:ext cx="1865473" cy="1853567"/>
          </a:xfrm>
          <a:prstGeom prst="ellipse">
            <a:avLst/>
          </a:prstGeom>
          <a:ln w="15875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77496" y="643195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600" b="1" kern="0" spc="300" dirty="0">
                <a:solidFill>
                  <a:srgbClr val="2BA6A0"/>
                </a:solidFill>
                <a:latin typeface="Cambria"/>
                <a:ea typeface="Cambria"/>
                <a:cs typeface="Calibri"/>
              </a:rPr>
              <a:t>SQL DATA ANALYSIS PROJECT</a:t>
            </a:r>
            <a:endParaRPr lang="en-US" sz="2600" b="1">
              <a:latin typeface="Cambria"/>
              <a:ea typeface="Cambria"/>
              <a:cs typeface="Calibri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9436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SafeCity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5204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Analyzing Women's Safety Incidents Across the City to Uncover Risk</a:t>
            </a:r>
            <a:endParaRPr lang="en-US" sz="165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Patterns, Response Gaps, and Infrastructure Priorities</a:t>
            </a:r>
            <a:endParaRPr lang="en-US" sz="165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9436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5413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INCIDENTS ANALYZED</a:t>
            </a:r>
            <a:endParaRPr lang="en-US" sz="105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272796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2727960" y="5413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LOCATIONS COVERED</a:t>
            </a:r>
            <a:endParaRPr lang="en-US" sz="105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4563904" y="49158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Yrs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563904" y="5413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2022 – 2025</a:t>
            </a:r>
            <a:endParaRPr lang="en-US" sz="105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6399848" y="49158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396037" y="539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SQL QUERIES BUILT</a:t>
            </a:r>
            <a:endParaRPr lang="en-US" sz="105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943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E7BA3"/>
                </a:solidFill>
                <a:ea typeface="Calibri"/>
                <a:cs typeface="Calibri"/>
              </a:rPr>
              <a:t>Kartik Yadav</a:t>
            </a:r>
          </a:p>
        </p:txBody>
      </p:sp>
      <p:pic>
        <p:nvPicPr>
          <p:cNvPr id="5" name="Image 0" descr="icons/shield.pn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5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2454" y="639396"/>
            <a:ext cx="492740" cy="457884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outerShdw blurRad="76200">
              <a:srgbClr val="FFFFFF"/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/>
                <a:ea typeface="Cambria"/>
                <a:cs typeface="Cambria" pitchFamily="34" charset="-120"/>
              </a:rPr>
              <a:t>Objectives &amp; Analytical Approach</a:t>
            </a:r>
            <a:endParaRPr lang="en-US" sz="3200">
              <a:solidFill>
                <a:schemeClr val="bg1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Mission SafeCity examines women's safety incident records — collected via mobile apps, smartwatches, and public panic buttons — to help city safety planners understand where incidents cluster, how fast responders arrive, and which locations most urgently need infrastructure investment.</a:t>
            </a:r>
            <a:endParaRPr lang="en-US" sz="135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517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7" name="Image 0" descr="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7660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2644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Patterns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570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latin typeface="Calibri"/>
                <a:ea typeface="Calibri"/>
                <a:cs typeface="Calibri"/>
              </a:rPr>
              <a:t>Uncover the most common incident types and when/where they occur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169664" y="24231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11" name="Shape 8"/>
          <p:cNvSpPr/>
          <p:nvPr/>
        </p:nvSpPr>
        <p:spPr>
          <a:xfrm>
            <a:off x="4398264" y="26517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2" name="Image 1" descr="icons/map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64" y="27660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98264" y="32644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High-Risk Zones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398264" y="35570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latin typeface="Calibri"/>
                <a:ea typeface="Calibri"/>
                <a:cs typeface="Calibri"/>
              </a:rPr>
              <a:t>Rank locations and city zones by incident volume and risk level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790688" y="24231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019288" y="26517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7" name="Image 2" descr="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588" y="27660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19288" y="32644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Response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019288" y="35570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latin typeface="Calibri"/>
                <a:ea typeface="Calibri"/>
                <a:cs typeface="Calibri"/>
              </a:rPr>
              <a:t>Measure response speed across shifts, devices and panic-button use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48640" y="42519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2" name="Image 3" descr="icons/to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" y="45948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" y="50932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Infrastructure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53858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latin typeface="Calibri"/>
                <a:ea typeface="Calibri"/>
                <a:cs typeface="Calibri"/>
              </a:rPr>
              <a:t>Compare CCTV, streetlight and patrol coverage against incident load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169664" y="42519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26" name="Shape 20"/>
          <p:cNvSpPr/>
          <p:nvPr/>
        </p:nvSpPr>
        <p:spPr>
          <a:xfrm>
            <a:off x="4398264" y="44805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7" name="Image 4" descr="icons/bar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2564" y="459486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398264" y="50932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Priorities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4398264" y="53858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latin typeface="Calibri"/>
                <a:ea typeface="Calibri"/>
                <a:cs typeface="Calibri"/>
              </a:rPr>
              <a:t>Build a composite score to rank locations for intervention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7790688" y="42519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31" name="Shape 24"/>
          <p:cNvSpPr/>
          <p:nvPr/>
        </p:nvSpPr>
        <p:spPr>
          <a:xfrm>
            <a:off x="8019288" y="44805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32" name="Image 5" descr="icons/lay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3588" y="459486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019288" y="50932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Advanced SQL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8019288" y="53858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latin typeface="Calibri"/>
                <a:ea typeface="Calibri"/>
                <a:cs typeface="Calibri"/>
              </a:rPr>
              <a:t>CTEs, window functions, ranking &amp; lag analysis across 25 queries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Relational Schema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36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Calibri"/>
                <a:ea typeface="Calibri"/>
                <a:cs typeface="Calibri"/>
              </a:rPr>
              <a:t>A star style schema built in MySQL Workbench: one central incidents fact table joined to five dimension tables, plus a flat pre-normalization staging table (safety).</a:t>
            </a:r>
          </a:p>
        </p:txBody>
      </p:sp>
      <p:sp>
        <p:nvSpPr>
          <p:cNvPr id="24" name="Shape 22"/>
          <p:cNvSpPr/>
          <p:nvPr/>
        </p:nvSpPr>
        <p:spPr>
          <a:xfrm>
            <a:off x="7371080" y="1625600"/>
            <a:ext cx="4279392" cy="4434840"/>
          </a:xfrm>
          <a:prstGeom prst="roundRect">
            <a:avLst>
              <a:gd name="adj" fmla="val 1709"/>
            </a:avLst>
          </a:prstGeom>
          <a:solidFill>
            <a:srgbClr val="1B2A5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91120" y="1826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 COUNTS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691120" y="22656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05720" y="22656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91120" y="2594864"/>
            <a:ext cx="3611880" cy="0"/>
          </a:xfrm>
          <a:prstGeom prst="line">
            <a:avLst/>
          </a:prstGeom>
          <a:noFill/>
          <a:ln w="9525">
            <a:solidFill>
              <a:srgbClr val="3140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91120" y="26314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(staging)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205720" y="26314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91120" y="2960624"/>
            <a:ext cx="3611880" cy="0"/>
          </a:xfrm>
          <a:prstGeom prst="line">
            <a:avLst/>
          </a:prstGeom>
          <a:noFill/>
          <a:ln w="9525">
            <a:solidFill>
              <a:srgbClr val="3140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91120" y="2997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05720" y="29972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91120" y="3326384"/>
            <a:ext cx="3611880" cy="0"/>
          </a:xfrm>
          <a:prstGeom prst="line">
            <a:avLst/>
          </a:prstGeom>
          <a:noFill/>
          <a:ln w="9525">
            <a:solidFill>
              <a:srgbClr val="3140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91120" y="33629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205720" y="33629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691120" y="3692144"/>
            <a:ext cx="3611880" cy="0"/>
          </a:xfrm>
          <a:prstGeom prst="line">
            <a:avLst/>
          </a:prstGeom>
          <a:noFill/>
          <a:ln w="9525">
            <a:solidFill>
              <a:srgbClr val="31407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91120" y="37287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incident_types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205720" y="3728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691120" y="4057904"/>
            <a:ext cx="3611880" cy="0"/>
          </a:xfrm>
          <a:prstGeom prst="line">
            <a:avLst/>
          </a:prstGeom>
          <a:noFill/>
          <a:ln w="9525">
            <a:solidFill>
              <a:srgbClr val="31407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91120" y="40944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205720" y="4094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691120" y="4423664"/>
            <a:ext cx="3611880" cy="0"/>
          </a:xfrm>
          <a:prstGeom prst="line">
            <a:avLst/>
          </a:prstGeom>
          <a:noFill/>
          <a:ln w="9525">
            <a:solidFill>
              <a:srgbClr val="31407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91120" y="446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response_outcomes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205720" y="44602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1241476-B179-49D8-92C9-43DBDCA2C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12000"/>
                    </a14:imgEffect>
                    <a14:imgEffect>
                      <a14:brightnessContrast bright="-2000" contrast="-10000"/>
                    </a14:imgEffect>
                  </a14:imgLayer>
                </a14:imgProps>
              </a:ext>
            </a:extLst>
          </a:blip>
          <a:srcRect l="8163" t="4544" r="2624" b="3433"/>
          <a:stretch>
            <a:fillRect/>
          </a:stretch>
        </p:blipFill>
        <p:spPr>
          <a:xfrm>
            <a:off x="548325" y="2075626"/>
            <a:ext cx="6226554" cy="3987574"/>
          </a:xfrm>
          <a:prstGeom prst="rect">
            <a:avLst/>
          </a:prstGeom>
          <a:ln>
            <a:noFill/>
          </a:ln>
          <a:effectLst>
            <a:outerShdw blurRad="469900" dist="342900" dir="372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02–04 · DATA PREPARATION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5"/>
                </a:solidFill>
                <a:latin typeface="Cambria"/>
                <a:ea typeface="Cambria"/>
                <a:cs typeface="Cambria" pitchFamily="34" charset="-120"/>
              </a:rPr>
              <a:t>Data Quality &amp; Validation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Before analysis, every table was checked for duplicates, nulls, and out-of-range values across all 20,000 incident records.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EAF0F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77440"/>
            <a:ext cx="457200" cy="457200"/>
          </a:xfrm>
          <a:prstGeom prst="ellipse">
            <a:avLst/>
          </a:prstGeom>
          <a:solidFill>
            <a:srgbClr val="2BA6A0"/>
          </a:solidFill>
          <a:ln/>
        </p:spPr>
      </p:sp>
      <p:pic>
        <p:nvPicPr>
          <p:cNvPr id="7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871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999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66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Incident IDs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across 20,000 rows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19856" y="21488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EAF0FB"/>
          </a:solidFill>
          <a:ln/>
        </p:spPr>
      </p:sp>
      <p:sp>
        <p:nvSpPr>
          <p:cNvPr id="12" name="Shape 9"/>
          <p:cNvSpPr/>
          <p:nvPr/>
        </p:nvSpPr>
        <p:spPr>
          <a:xfrm>
            <a:off x="3675888" y="2377440"/>
            <a:ext cx="457200" cy="457200"/>
          </a:xfrm>
          <a:prstGeom prst="ellipse">
            <a:avLst/>
          </a:prstGeom>
          <a:solidFill>
            <a:srgbClr val="2BA6A0"/>
          </a:solidFill>
          <a:ln/>
        </p:spPr>
      </p:sp>
      <p:pic>
        <p:nvPicPr>
          <p:cNvPr id="13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4871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02736" y="2999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3602736" y="3566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Null Values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3602736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10 key columns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91072" y="21488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EAF0FB"/>
          </a:solidFill>
          <a:ln/>
        </p:spPr>
      </p:sp>
      <p:sp>
        <p:nvSpPr>
          <p:cNvPr id="18" name="Shape 14"/>
          <p:cNvSpPr/>
          <p:nvPr/>
        </p:nvSpPr>
        <p:spPr>
          <a:xfrm>
            <a:off x="6547104" y="2377440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9" name="Image 2" descr="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48716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73952" y="2999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18–60</a:t>
            </a:r>
            <a:endParaRPr lang="en-US" sz="2700" dirty="0"/>
          </a:p>
        </p:txBody>
      </p:sp>
      <p:sp>
        <p:nvSpPr>
          <p:cNvPr id="21" name="Text 16"/>
          <p:cNvSpPr txBox="1"/>
          <p:nvPr/>
        </p:nvSpPr>
        <p:spPr>
          <a:xfrm>
            <a:off x="6473952" y="3566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Age Range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473952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38.92 years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9162288" y="21488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EAF0FB"/>
          </a:solidFill>
          <a:ln/>
        </p:spPr>
      </p:sp>
      <p:sp>
        <p:nvSpPr>
          <p:cNvPr id="24" name="Shape 19"/>
          <p:cNvSpPr/>
          <p:nvPr/>
        </p:nvSpPr>
        <p:spPr>
          <a:xfrm>
            <a:off x="9418320" y="2377440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5" name="Image 3" descr="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48" y="248716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45168" y="2999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2–25 min</a:t>
            </a:r>
            <a:endParaRPr lang="en-US" sz="2700" dirty="0"/>
          </a:p>
        </p:txBody>
      </p:sp>
      <p:sp>
        <p:nvSpPr>
          <p:cNvPr id="27" name="Text 21"/>
          <p:cNvSpPr txBox="1"/>
          <p:nvPr/>
        </p:nvSpPr>
        <p:spPr>
          <a:xfrm>
            <a:off x="9345168" y="3566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Range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9345168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12.37 minutes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48640" y="44348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B2A55"/>
          </a:solidFill>
          <a:ln/>
        </p:spPr>
      </p:sp>
      <p:pic>
        <p:nvPicPr>
          <p:cNvPr id="30" name="Image 4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828032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0876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/>
                <a:ea typeface="Cambria"/>
              </a:rPr>
              <a:t>Data</a:t>
            </a:r>
            <a:endParaRPr lang="en-US" dirty="0"/>
          </a:p>
        </p:txBody>
      </p:sp>
      <p:sp>
        <p:nvSpPr>
          <p:cNvPr id="32" name="Text 25"/>
          <p:cNvSpPr txBox="1"/>
          <p:nvPr/>
        </p:nvSpPr>
        <p:spPr>
          <a:xfrm>
            <a:off x="1518920" y="4945888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Zero duplicate incident IDs and zero missing values across </a:t>
            </a:r>
            <a:r>
              <a:rPr lang="en-US" sz="1100" dirty="0" err="1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incident_id</a:t>
            </a:r>
            <a:r>
              <a:rPr lang="en-US" sz="1100" dirty="0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, date, time, location, outcome, age, response time, etc.</a:t>
            </a:r>
            <a:endParaRPr lang="en-U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The dataset is ready for analysis without cleansing.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4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05 · HEADLINE METRICS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1B2A55"/>
          </a:solidFill>
          <a:ln/>
        </p:spPr>
      </p:sp>
      <p:pic>
        <p:nvPicPr>
          <p:cNvPr id="5" name="Image 0" descr="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23134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kern="0" spc="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00984" y="1600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1B2A55"/>
          </a:solidFill>
          <a:ln/>
        </p:spPr>
      </p:sp>
      <p:pic>
        <p:nvPicPr>
          <p:cNvPr id="9" name="Image 1" descr="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82880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02152" y="23134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3502152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kern="0" spc="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AFFECTED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53328" y="1600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1B2A55"/>
          </a:solidFill>
          <a:ln/>
        </p:spPr>
      </p:sp>
      <p:pic>
        <p:nvPicPr>
          <p:cNvPr id="13" name="Image 2" descr="icons/smart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82880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54496" y="23134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6254496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kern="0" spc="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TYPES IN USE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805672" y="1600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1B2A55"/>
          </a:solidFill>
          <a:ln/>
        </p:spPr>
      </p:sp>
      <p:pic>
        <p:nvPicPr>
          <p:cNvPr id="17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272" y="182880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06840" y="23134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700" dirty="0"/>
          </a:p>
        </p:txBody>
      </p:sp>
      <p:sp>
        <p:nvSpPr>
          <p:cNvPr id="19" name="Text 13"/>
          <p:cNvSpPr txBox="1"/>
          <p:nvPr/>
        </p:nvSpPr>
        <p:spPr>
          <a:xfrm>
            <a:off x="900684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kern="0" spc="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INCIDENT TYPES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384048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1B2A55"/>
          </a:solidFill>
          <a:ln/>
        </p:spPr>
      </p:sp>
      <p:pic>
        <p:nvPicPr>
          <p:cNvPr id="21" name="Image 4" descr="icons/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06908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9808" y="45537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56.65%</a:t>
            </a:r>
            <a:endParaRPr lang="en-US" sz="2700" dirty="0"/>
          </a:p>
        </p:txBody>
      </p:sp>
      <p:sp>
        <p:nvSpPr>
          <p:cNvPr id="23" name="Text 16"/>
          <p:cNvSpPr txBox="1"/>
          <p:nvPr/>
        </p:nvSpPr>
        <p:spPr>
          <a:xfrm>
            <a:off x="749808" y="5212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kern="0" spc="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BUTTON ACTIVATIONS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300984" y="384048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1B2A55"/>
          </a:solidFill>
          <a:ln/>
        </p:spPr>
      </p:sp>
      <p:pic>
        <p:nvPicPr>
          <p:cNvPr id="25" name="Image 5" descr="icons/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9584" y="406908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502152" y="45537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38.92</a:t>
            </a:r>
            <a:endParaRPr lang="en-US" sz="2700" dirty="0"/>
          </a:p>
        </p:txBody>
      </p:sp>
      <p:sp>
        <p:nvSpPr>
          <p:cNvPr id="27" name="Text 19"/>
          <p:cNvSpPr txBox="1"/>
          <p:nvPr/>
        </p:nvSpPr>
        <p:spPr>
          <a:xfrm>
            <a:off x="3502152" y="5212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kern="0" spc="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VICTIM AGE (YRS)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053328" y="384048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1B2A55"/>
          </a:solidFill>
          <a:ln/>
        </p:spPr>
      </p:sp>
      <p:pic>
        <p:nvPicPr>
          <p:cNvPr id="29" name="Image 6" descr="icons/c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1928" y="406908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254496" y="45537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12.37 min</a:t>
            </a:r>
            <a:endParaRPr lang="en-US" sz="2700" dirty="0"/>
          </a:p>
        </p:txBody>
      </p:sp>
      <p:sp>
        <p:nvSpPr>
          <p:cNvPr id="31" name="Text 22"/>
          <p:cNvSpPr txBox="1"/>
          <p:nvPr/>
        </p:nvSpPr>
        <p:spPr>
          <a:xfrm>
            <a:off x="6254496" y="5212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kern="0" spc="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TIME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8805672" y="384048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1B2A55"/>
          </a:solidFill>
          <a:ln/>
        </p:spPr>
      </p:sp>
      <p:pic>
        <p:nvPicPr>
          <p:cNvPr id="33" name="Image 7" descr="icons/radi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4272" y="406908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006840" y="45537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11,329</a:t>
            </a:r>
            <a:endParaRPr lang="en-US" sz="2700" dirty="0"/>
          </a:p>
        </p:txBody>
      </p:sp>
      <p:sp>
        <p:nvSpPr>
          <p:cNvPr id="35" name="Text 25"/>
          <p:cNvSpPr txBox="1"/>
          <p:nvPr/>
        </p:nvSpPr>
        <p:spPr>
          <a:xfrm>
            <a:off x="9006840" y="5212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kern="0" spc="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BUTTON USES (COUNT)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06 · INCIDENT PATTERNS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Type Analysis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alibri"/>
                <a:ea typeface="Calibri"/>
                <a:cs typeface="Calibri"/>
              </a:rPr>
              <a:t>All eight incident types occur at strikingly similar volumes: no single category dominates, meaning safety interventions must be broad based rather than targeted at one issue.</a:t>
            </a:r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11680"/>
          <a:ext cx="11091672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07 · INCIDENT PATTERNS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Distribution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27435186"/>
              </p:ext>
            </p:extLst>
          </p:nvPr>
        </p:nvGraphicFramePr>
        <p:xfrm>
          <a:off x="548640" y="1569720"/>
          <a:ext cx="4856480" cy="4602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325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/>
                <a:ea typeface="Cambria"/>
                <a:cs typeface="Cambria" pitchFamily="34" charset="-120"/>
              </a:rPr>
              <a:t>Half of All Incidents Are High-Severity</a:t>
            </a:r>
            <a:endParaRPr lang="en-US" sz="2000">
              <a:latin typeface="Cambria"/>
              <a:ea typeface="Cambria"/>
              <a:cs typeface="Calibri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035040" y="19710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Exactly 50.06% of incidents (10,013) are classified High severity — and Critical-severity ‘SOS Alert’ cases carry the same 12.4 minute average response time as every other category, suggesting response prioritization by severity is not yet happening operationally.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035040" y="33375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    Count     % Total     Avg Response</a:t>
            </a:r>
            <a:endParaRPr lang="en-US" sz="1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5"/>
                </a:solidFill>
                <a:latin typeface="Calibri"/>
                <a:ea typeface="Calibri"/>
                <a:cs typeface="Calibri"/>
              </a:rPr>
              <a:t>Severity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49808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5"/>
                </a:solidFill>
                <a:latin typeface="Calibri"/>
                <a:ea typeface="Calibri"/>
                <a:cs typeface="Calibri"/>
              </a:rPr>
              <a:t>Count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77824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5"/>
                </a:solidFill>
                <a:latin typeface="Calibri"/>
                <a:ea typeface="Calibri"/>
                <a:cs typeface="Calibri"/>
              </a:rPr>
              <a:t>% Total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9966960" y="3337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5"/>
                </a:solidFill>
                <a:latin typeface="Calibri"/>
                <a:ea typeface="Calibri"/>
                <a:cs typeface="Calibri"/>
              </a:rPr>
              <a:t>Avg Resp.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35040" y="3666744"/>
            <a:ext cx="5486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3739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739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10,013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3739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50.06%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3739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12.33 min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40873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40873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4,981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0" y="40873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24.91%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966960" y="40873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12.40 min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44348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44348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778240" y="44348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12.55%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966960" y="4434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 min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035040" y="47823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0" y="47823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2,495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778240" y="47823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9966960" y="47823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12.37 min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73BD3A3E-86BB-4269-922D-95CD94981A0F}"/>
              </a:ext>
            </a:extLst>
          </p:cNvPr>
          <p:cNvSpPr/>
          <p:nvPr/>
        </p:nvSpPr>
        <p:spPr>
          <a:xfrm>
            <a:off x="6959600" y="3433064"/>
            <a:ext cx="0" cy="16459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DABAFBA8-65AB-D96A-C01A-696B8BF55109}"/>
              </a:ext>
            </a:extLst>
          </p:cNvPr>
          <p:cNvSpPr/>
          <p:nvPr/>
        </p:nvSpPr>
        <p:spPr>
          <a:xfrm>
            <a:off x="8290559" y="3422904"/>
            <a:ext cx="0" cy="16459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19747365-D13F-687E-3594-C2480514A82E}"/>
              </a:ext>
            </a:extLst>
          </p:cNvPr>
          <p:cNvSpPr/>
          <p:nvPr/>
        </p:nvSpPr>
        <p:spPr>
          <a:xfrm>
            <a:off x="9570719" y="3422904"/>
            <a:ext cx="0" cy="16459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08 · LOCATION RISK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/>
                <a:ea typeface="Cambria"/>
                <a:cs typeface="Cambria" pitchFamily="34" charset="-120"/>
              </a:rPr>
              <a:t>Top 10 Highest-Incident Locations</a:t>
            </a:r>
            <a:endParaRPr lang="en-US" sz="3200">
              <a:solidFill>
                <a:schemeClr val="bg1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Ranked by total incident volume across all 100 tracked locations.</a:t>
            </a: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40233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Savvy Subcity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44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Technovia Heights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A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Arama Residency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A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Southlake Vista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A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Hub Gardens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A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Creme Delights Enclave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A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Arama Extension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A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Chartered Extension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44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Hub Phase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A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Springs Phase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44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09 · LOCATION RISK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/>
                <a:ea typeface="Cambria"/>
                <a:cs typeface="Cambria" pitchFamily="34" charset="-120"/>
              </a:rPr>
              <a:t>Zone &amp; Risk Level Patterns</a:t>
            </a:r>
            <a:endParaRPr lang="en-US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City zones carry very different response burdens — East and Central (High risk) take nearly 3x longer to respond to than North (Low risk).</a:t>
            </a:r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6309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7086600" y="2057400"/>
          <a:ext cx="4553712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10–11 · RESPONSE PERFORMANCE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Time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93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RESPONSE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70248" y="141732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98848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12.37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1993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91856" y="141732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0456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20456" y="1993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RESPONSE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Category Volume by Shift</a:t>
            </a:r>
            <a:endParaRPr lang="en-US" sz="13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48640" y="2971800"/>
          <a:ext cx="11091672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>
          <a:blip r:embed="rId3"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12–13 · TECHNOLOGY &amp; ALERTS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/>
                <a:ea typeface="Cambria"/>
                <a:cs typeface="Cambria" pitchFamily="34" charset="-120"/>
              </a:rPr>
              <a:t>Panic Button &amp; Device Usage</a:t>
            </a:r>
            <a:endParaRPr lang="en-US" sz="3200">
              <a:solidFill>
                <a:schemeClr val="bg1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Panic Button Activation</a:t>
            </a:r>
            <a:endParaRPr lang="en-U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096578713"/>
              </p:ext>
            </p:extLst>
          </p:nvPr>
        </p:nvGraphicFramePr>
        <p:xfrm>
          <a:off x="280504" y="1794123"/>
          <a:ext cx="5524389" cy="4305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1792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Incidents by Device Type</a:t>
            </a:r>
            <a:endParaRPr lang="en-U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4288817702"/>
              </p:ext>
            </p:extLst>
          </p:nvPr>
        </p:nvGraphicFramePr>
        <p:xfrm>
          <a:off x="5949784" y="1794123"/>
          <a:ext cx="5615829" cy="4305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14–16 · CONTEXTUAL PATTERNS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Shift, Weather &amp; Witness Patterns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59683" y="192686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libri"/>
                <a:ea typeface="Calibri"/>
                <a:cs typeface="Calibri"/>
              </a:rPr>
              <a:t>By Shift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624374632"/>
              </p:ext>
            </p:extLst>
          </p:nvPr>
        </p:nvGraphicFramePr>
        <p:xfrm>
          <a:off x="468243" y="2246906"/>
          <a:ext cx="36576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263003" y="192686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libri"/>
                <a:ea typeface="Calibri"/>
                <a:cs typeface="Calibri"/>
              </a:rPr>
              <a:t>By Weather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2512235068"/>
              </p:ext>
            </p:extLst>
          </p:nvPr>
        </p:nvGraphicFramePr>
        <p:xfrm>
          <a:off x="4171563" y="2246906"/>
          <a:ext cx="36576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966323" y="192686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libri"/>
                <a:ea typeface="Calibri"/>
                <a:cs typeface="Calibri"/>
              </a:rPr>
              <a:t>By Witness Count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" name="Chart 2"/>
          <p:cNvGraphicFramePr/>
          <p:nvPr>
            <p:extLst>
              <p:ext uri="{D42A27DB-BD31-4B8C-83A1-F6EECF244321}">
                <p14:modId xmlns:p14="http://schemas.microsoft.com/office/powerpoint/2010/main" val="1067393997"/>
              </p:ext>
            </p:extLst>
          </p:nvPr>
        </p:nvGraphicFramePr>
        <p:xfrm>
          <a:off x="7874883" y="2246906"/>
          <a:ext cx="37947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12516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Night shift sees the most incidents (7,431) with the slowest average pace of activity; weather has little effect on volume (spread &lt;5%); most incidents (50%+) occur with 3–5 witnesses present.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200" dirty="0">
                <a:solidFill>
                  <a:srgbClr val="E4483C"/>
                </a:solidFill>
                <a:latin typeface="Calibri"/>
                <a:ea typeface="Calibri"/>
                <a:cs typeface="Calibri"/>
              </a:rPr>
              <a:t>QUERY 17 and 22,23 · TREND ANALYSIS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/>
                <a:ea typeface="Cambria"/>
                <a:cs typeface="Cambria" pitchFamily="34" charset="-120"/>
              </a:rPr>
              <a:t>Incident Trends Over Time</a:t>
            </a:r>
            <a:endParaRPr lang="en-US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Across 48 months of data (Jan 2022 – Dec 2025), yearly incident volume is remarkably stable — there is no runaway growth, but also no meaningful decline.</a:t>
            </a:r>
            <a:endParaRPr lang="en-U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Annual Incident Volume</a:t>
            </a:r>
            <a:endParaRPr lang="en-U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331720"/>
          <a:ext cx="51206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8932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Cumulative Incident Growth</a:t>
            </a:r>
            <a:endParaRPr lang="en-U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8" name="Chart 1"/>
          <p:cNvGraphicFramePr/>
          <p:nvPr/>
        </p:nvGraphicFramePr>
        <p:xfrm>
          <a:off x="5897880" y="2331720"/>
          <a:ext cx="56692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18–19 · INFRASTRUCTURE AUDIT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Infrastructure Gaps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/>
                <a:ea typeface="Calibri"/>
                <a:cs typeface="Calibri"/>
              </a:rPr>
              <a:t>Cross-referencing incident load against CCTV, streetlighting, emergency poles and patrol frequency for the 5 highest-volume locations.</a:t>
            </a: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249294"/>
              </p:ext>
            </p:extLst>
          </p:nvPr>
        </p:nvGraphicFramePr>
        <p:xfrm>
          <a:off x="548640" y="2011680"/>
          <a:ext cx="11014410" cy="2336958"/>
        </p:xfrm>
        <a:graphic>
          <a:graphicData uri="http://schemas.openxmlformats.org/drawingml/2006/table">
            <a:tbl>
              <a:tblPr/>
              <a:tblGrid>
                <a:gridCol w="280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0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0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44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Risk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CCTV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Lights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Poles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Incidents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Avg Resp.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55"/>
                          </a:solidFill>
                          <a:latin typeface="Calibri"/>
                          <a:ea typeface="Calibri"/>
                          <a:cs typeface="Calibri"/>
                        </a:rPr>
                        <a:t>Savvy Subcity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4483C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48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167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55"/>
                          </a:solidFill>
                          <a:latin typeface="Calibri"/>
                          <a:ea typeface="Calibri"/>
                          <a:cs typeface="Calibri"/>
                        </a:rPr>
                        <a:t>235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17.0 min</a:t>
                      </a:r>
                      <a:endParaRPr lang="en-US" sz="14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55"/>
                          </a:solidFill>
                          <a:latin typeface="Calibri"/>
                          <a:ea typeface="Calibri"/>
                          <a:cs typeface="Calibri"/>
                        </a:rPr>
                        <a:t>Technovia Heights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A23D"/>
                          </a:solidFill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145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55"/>
                          </a:solidFill>
                          <a:latin typeface="Calibri"/>
                          <a:ea typeface="Calibri"/>
                          <a:cs typeface="Calibri"/>
                        </a:rPr>
                        <a:t>224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11.73 min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55"/>
                          </a:solidFill>
                          <a:latin typeface="Calibri"/>
                          <a:ea typeface="Calibri"/>
                          <a:cs typeface="Calibri"/>
                        </a:rPr>
                        <a:t>Arama Residency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A23D"/>
                          </a:solidFill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28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144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55"/>
                          </a:solidFill>
                          <a:latin typeface="Calibri"/>
                          <a:ea typeface="Calibri"/>
                          <a:cs typeface="Calibri"/>
                        </a:rPr>
                        <a:t>223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11.43 min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7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55"/>
                          </a:solidFill>
                          <a:latin typeface="Calibri"/>
                          <a:ea typeface="Calibri"/>
                          <a:cs typeface="Calibri"/>
                        </a:rPr>
                        <a:t>Southlake Vista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A23D"/>
                          </a:solidFill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38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140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55"/>
                          </a:solidFill>
                          <a:latin typeface="Calibri"/>
                          <a:ea typeface="Calibri"/>
                          <a:cs typeface="Calibri"/>
                        </a:rPr>
                        <a:t>222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11.40 min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55"/>
                          </a:solidFill>
                          <a:latin typeface="Calibri"/>
                          <a:ea typeface="Calibri"/>
                          <a:cs typeface="Calibri"/>
                        </a:rPr>
                        <a:t>Silver Hub Gardens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A6A0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54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55"/>
                          </a:solidFill>
                          <a:latin typeface="Calibri"/>
                          <a:ea typeface="Calibri"/>
                          <a:cs typeface="Calibri"/>
                        </a:rPr>
                        <a:t>222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B6B8C"/>
                          </a:solidFill>
                          <a:latin typeface="Calibri"/>
                          <a:ea typeface="Calibri"/>
                          <a:cs typeface="Calibri"/>
                        </a:rPr>
                        <a:t>5.92 min</a:t>
                      </a:r>
                      <a:endParaRPr lang="en-US" sz="14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15510" y="4652617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0FB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5717" y="4908781"/>
            <a:ext cx="10523992" cy="991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2000"/>
              </a:lnSpc>
            </a:pPr>
            <a:r>
              <a:rPr lang="en-US" sz="160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Savvy Subcity has the most CCTV (48) and streetlights (167) of the top 5, yet the highest incident count and </a:t>
            </a:r>
            <a:r>
              <a:rPr lang="en-US" sz="1600" b="1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slowest response time (17 min)</a:t>
            </a:r>
            <a:r>
              <a:rPr lang="en-US" sz="160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, hardware alone isn't solving the problem. Meanwhile Silver Hub Gardens, despite minimal infrastructure (5 CCTV), sees comparable incident volume but a far</a:t>
            </a:r>
            <a:r>
              <a:rPr lang="en-US" sz="1600" b="1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faster response (5.92 min)</a:t>
            </a:r>
            <a:r>
              <a:rPr lang="en-US" sz="160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, pointing to patrol responsiveness as the deciding factor.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200" dirty="0">
                <a:solidFill>
                  <a:srgbClr val="2BA6A0"/>
                </a:solidFill>
                <a:latin typeface="Calibri"/>
                <a:ea typeface="Calibri"/>
                <a:cs typeface="Calibri"/>
              </a:rPr>
              <a:t>QUERY 20 to 25 · ADVANCED SQL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Priority Ranking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/>
                <a:ea typeface="Calibri"/>
                <a:cs typeface="Calibri"/>
              </a:rPr>
              <a:t>A composite score built with CTEs and DENSE_RANK() combines incident volume, response speed, and risk classification into one prioritization metric for city planners.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7597" y="2098482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21D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6700" y="209848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priority_score  =  </a:t>
            </a:r>
            <a:r>
              <a:rPr lang="en-US" sz="1350" b="1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incident_count</a:t>
            </a:r>
            <a:r>
              <a:rPr lang="en-US" sz="13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+  </a:t>
            </a:r>
            <a:r>
              <a:rPr lang="en-US" sz="1350" b="1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avg_response_time  +  (High risk: +20 · Medium: +10 · Low: +0)</a:t>
            </a:r>
            <a:endParaRPr lang="en-US" sz="1350">
              <a:solidFill>
                <a:schemeClr val="bg1"/>
              </a:solidFill>
              <a:latin typeface="Courier New"/>
              <a:ea typeface="Calibri"/>
              <a:cs typeface="Calibri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3149821"/>
            <a:ext cx="11080627" cy="275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i="1" dirty="0">
                <a:latin typeface="Calibri"/>
                <a:ea typeface="Calibri"/>
                <a:cs typeface="Calibri"/>
              </a:rPr>
              <a:t>Other advanced techniques applied across the 25-query suite: ROW_NUMBER() to find each location's top incident type, LAG() for month-over-month % change, and SUM() OVER() for running cumulative totals.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Window Functions: DENSE_RANK(), ROW_NUMBER() </a:t>
            </a:r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Common Table Expressions (CTEs): Modular WITH clauses for isolating severe incidents and building priority score models. </a:t>
            </a:r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Time-Series Analysis: Month over Month revenue growth velocity and ride frequency intervals via LAG() and DATEDIFF().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B2A5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37360"/>
            <a:ext cx="73152" cy="1051560"/>
          </a:xfrm>
          <a:prstGeom prst="roundRect">
            <a:avLst>
              <a:gd name="adj" fmla="val 25000"/>
            </a:avLst>
          </a:prstGeom>
          <a:solidFill>
            <a:srgbClr val="E448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700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No dominant incident type</a:t>
            </a:r>
            <a:endParaRPr lang="en-US" sz="1600">
              <a:latin typeface="Cambria"/>
              <a:ea typeface="Cambria"/>
              <a:cs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32688" y="206654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All 8 categories fall within a 200 incident band (2377 to 2571):  the response strategy must cover the full spectrum, not one issue.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B2A55"/>
          </a:solidFill>
          <a:ln/>
        </p:spPr>
      </p:sp>
      <p:sp>
        <p:nvSpPr>
          <p:cNvPr id="9" name="Shape 7"/>
          <p:cNvSpPr/>
          <p:nvPr/>
        </p:nvSpPr>
        <p:spPr>
          <a:xfrm>
            <a:off x="6464808" y="1737360"/>
            <a:ext cx="73152" cy="1051560"/>
          </a:xfrm>
          <a:prstGeom prst="roundRect">
            <a:avLst>
              <a:gd name="adj" fmla="val 25000"/>
            </a:avLst>
          </a:prstGeom>
          <a:solidFill>
            <a:srgbClr val="E448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47688" y="1700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Half of incidents are High severity</a:t>
            </a:r>
            <a:endParaRPr lang="en-US" sz="1600">
              <a:latin typeface="Cambria"/>
              <a:ea typeface="Cambria"/>
              <a:cs typeface="Calibri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47688" y="206654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50.06% of all 20,000 incidents are High severity, yet response time doesn't vary meaningfully by severity level (12.3 to 12.5 min across the board).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B2A55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337560"/>
            <a:ext cx="73152" cy="1051560"/>
          </a:xfrm>
          <a:prstGeom prst="roundRect">
            <a:avLst>
              <a:gd name="adj" fmla="val 25000"/>
            </a:avLst>
          </a:prstGeom>
          <a:solidFill>
            <a:srgbClr val="E448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" y="33009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Response time isn't the bottleneck city wide</a:t>
            </a:r>
            <a:endParaRPr lang="en-US" sz="1600" dirty="0">
              <a:latin typeface="Cambria"/>
              <a:ea typeface="Cambria"/>
              <a:cs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32688" y="366674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12.37 min average, ranging only 2 to 25 min: but East and Central zones (High risk) average 16–17 min while North's 6.02 min, a 3x gap.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B2A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64808" y="3337560"/>
            <a:ext cx="73152" cy="1051560"/>
          </a:xfrm>
          <a:prstGeom prst="roundRect">
            <a:avLst>
              <a:gd name="adj" fmla="val 25000"/>
            </a:avLst>
          </a:prstGeom>
          <a:solidFill>
            <a:srgbClr val="E448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47688" y="33009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Infrastructure volume ≠ safety outcome</a:t>
            </a:r>
            <a:endParaRPr lang="en-US" sz="1600">
              <a:latin typeface="Cambria"/>
              <a:ea typeface="Cambria"/>
              <a:cs typeface="Calibri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647688" y="366674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Savvy </a:t>
            </a:r>
            <a:r>
              <a:rPr lang="en-US" sz="1400" dirty="0" err="1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Subcity</a:t>
            </a:r>
            <a:r>
              <a:rPr lang="en-US" sz="1400" dirty="0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 has the most cameras &amp; lights of any top location, yet the highest incident count and slowest response: patrol responsiveness matters more than hardware.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B2A55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4937760"/>
            <a:ext cx="73152" cy="1051560"/>
          </a:xfrm>
          <a:prstGeom prst="roundRect">
            <a:avLst>
              <a:gd name="adj" fmla="val 25000"/>
            </a:avLst>
          </a:prstGeom>
          <a:solidFill>
            <a:srgbClr val="E448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2688" y="49011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Panic button usage is moderate</a:t>
            </a:r>
            <a:endParaRPr lang="en-US" sz="1600">
              <a:latin typeface="Cambria"/>
              <a:ea typeface="Cambria"/>
              <a:cs typeface="Calibri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32688" y="526694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56.65% of incidents involve panic-button activation; Mobile, Smartwatch and Panic Button devices are used almost equally (6500–6800 each).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63640" y="47548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B2A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464808" y="4937760"/>
            <a:ext cx="73152" cy="1051560"/>
          </a:xfrm>
          <a:prstGeom prst="roundRect">
            <a:avLst>
              <a:gd name="adj" fmla="val 25000"/>
            </a:avLst>
          </a:prstGeom>
          <a:solidFill>
            <a:srgbClr val="E448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47688" y="49011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Incident volume is flat, not falling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647688" y="526694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7D1EC"/>
                </a:solidFill>
                <a:latin typeface="Calibri"/>
                <a:ea typeface="Calibri"/>
                <a:cs typeface="Calibri"/>
              </a:rPr>
              <a:t>4938 → 5137 incidents per year (2022–2025), a slight uptick — no evidence current measures are reducing incident frequency.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F7221-A94A-F721-FA39-1287C1B3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798CBD-6A1D-AA65-455B-16AF1A0AB419}"/>
              </a:ext>
            </a:extLst>
          </p:cNvPr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200" dirty="0">
                <a:solidFill>
                  <a:srgbClr val="E4483C"/>
                </a:solidFill>
                <a:latin typeface="Calibri"/>
                <a:ea typeface="Calibri"/>
                <a:cs typeface="Calibri"/>
              </a:rPr>
              <a:t>PROJECT SUMMARY AND INSIGHTS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6761F9-118B-1637-CDD9-6A38E651E016}"/>
              </a:ext>
            </a:extLst>
          </p:cNvPr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bg1"/>
                </a:solidFill>
                <a:ea typeface="+mn-lt"/>
                <a:cs typeface="+mn-lt"/>
              </a:rPr>
              <a:t>Summary of Analytics Outcomes</a:t>
            </a:r>
            <a:endParaRPr lang="en-US" sz="36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F0EB03-5EEE-1119-C845-C6A9E30DE0E3}"/>
              </a:ext>
            </a:extLst>
          </p:cNvPr>
          <p:cNvSpPr txBox="1"/>
          <p:nvPr/>
        </p:nvSpPr>
        <p:spPr>
          <a:xfrm>
            <a:off x="548640" y="14173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Mission SafeCity examines women's safety incident records — collected via mobile apps, smartwatches, and public panic buttons — to help city safety planners understand where incidents cluster, how fast responders arrive, and which locations most urgently need infrastructure investment.</a:t>
            </a:r>
            <a:endParaRPr lang="en-US" sz="135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A73D84-72AC-1B9C-450F-2A1EEB386CE0}"/>
              </a:ext>
            </a:extLst>
          </p:cNvPr>
          <p:cNvSpPr/>
          <p:nvPr/>
        </p:nvSpPr>
        <p:spPr>
          <a:xfrm>
            <a:off x="548640" y="24231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362B50A-F1F7-975C-BBA2-B6F24A203799}"/>
              </a:ext>
            </a:extLst>
          </p:cNvPr>
          <p:cNvSpPr/>
          <p:nvPr/>
        </p:nvSpPr>
        <p:spPr>
          <a:xfrm>
            <a:off x="777240" y="26517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7" name="Image 0" descr="icons/target.png">
            <a:extLst>
              <a:ext uri="{FF2B5EF4-FFF2-40B4-BE49-F238E27FC236}">
                <a16:creationId xmlns:a16="http://schemas.microsoft.com/office/drawing/2014/main" id="{2A292C54-6F56-5952-1097-B0F4CE865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766060"/>
            <a:ext cx="274320" cy="27432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72784952-4E94-1848-C647-BDF3E6119DC0}"/>
              </a:ext>
            </a:extLst>
          </p:cNvPr>
          <p:cNvSpPr txBox="1"/>
          <p:nvPr/>
        </p:nvSpPr>
        <p:spPr>
          <a:xfrm>
            <a:off x="777240" y="32644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B2A55"/>
                </a:solidFill>
                <a:latin typeface="Cambria"/>
                <a:ea typeface="Cambria"/>
                <a:cs typeface="+mn-lt"/>
              </a:rPr>
              <a:t>Validated Risk Patterns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80E4DDC-D837-ED70-60CB-6A710276D387}"/>
              </a:ext>
            </a:extLst>
          </p:cNvPr>
          <p:cNvSpPr txBox="1"/>
          <p:nvPr/>
        </p:nvSpPr>
        <p:spPr>
          <a:xfrm>
            <a:off x="787400" y="3526536"/>
            <a:ext cx="3100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ea typeface="+mn-lt"/>
                <a:cs typeface="+mn-lt"/>
              </a:rPr>
              <a:t>Successfully mapped the correlation between time, location, and incident frequency across the City.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497E12B-1444-88D5-86FD-71DB44370744}"/>
              </a:ext>
            </a:extLst>
          </p:cNvPr>
          <p:cNvSpPr/>
          <p:nvPr/>
        </p:nvSpPr>
        <p:spPr>
          <a:xfrm>
            <a:off x="4169664" y="24231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9C25DA9-4EEF-4684-B158-EB6BEDFB0759}"/>
              </a:ext>
            </a:extLst>
          </p:cNvPr>
          <p:cNvSpPr/>
          <p:nvPr/>
        </p:nvSpPr>
        <p:spPr>
          <a:xfrm>
            <a:off x="4398264" y="26517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2" name="Image 1" descr="icons/mappin.png">
            <a:extLst>
              <a:ext uri="{FF2B5EF4-FFF2-40B4-BE49-F238E27FC236}">
                <a16:creationId xmlns:a16="http://schemas.microsoft.com/office/drawing/2014/main" id="{5D6E2248-B38E-6AFF-BA32-F32FD14CF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64" y="2766060"/>
            <a:ext cx="274320" cy="274320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F8337D1D-A977-2E0F-24FE-6E2DC40B18AA}"/>
              </a:ext>
            </a:extLst>
          </p:cNvPr>
          <p:cNvSpPr txBox="1"/>
          <p:nvPr/>
        </p:nvSpPr>
        <p:spPr>
          <a:xfrm>
            <a:off x="4398264" y="32644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B2A55"/>
                </a:solidFill>
                <a:latin typeface="Cambria"/>
                <a:ea typeface="Cambria"/>
                <a:cs typeface="Cambria" pitchFamily="34" charset="-120"/>
              </a:rPr>
              <a:t>Flagged High-Risk Zones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7E5948D-6900-D9D2-2504-2E645E87888D}"/>
              </a:ext>
            </a:extLst>
          </p:cNvPr>
          <p:cNvSpPr txBox="1"/>
          <p:nvPr/>
        </p:nvSpPr>
        <p:spPr>
          <a:xfrm>
            <a:off x="4398264" y="35570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latin typeface="Calibri"/>
                <a:ea typeface="Calibri"/>
                <a:cs typeface="Calibri"/>
              </a:rPr>
              <a:t>Ranked locations and city zones by incident volume and risk level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55D7B7FF-51F5-9889-0EB9-8490D1E7856B}"/>
              </a:ext>
            </a:extLst>
          </p:cNvPr>
          <p:cNvSpPr/>
          <p:nvPr/>
        </p:nvSpPr>
        <p:spPr>
          <a:xfrm>
            <a:off x="7790688" y="24231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223ED0C7-C680-26D1-C3D6-E30C2B450A42}"/>
              </a:ext>
            </a:extLst>
          </p:cNvPr>
          <p:cNvSpPr/>
          <p:nvPr/>
        </p:nvSpPr>
        <p:spPr>
          <a:xfrm>
            <a:off x="8019288" y="26517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7" name="Image 2" descr="icons/clock.png">
            <a:extLst>
              <a:ext uri="{FF2B5EF4-FFF2-40B4-BE49-F238E27FC236}">
                <a16:creationId xmlns:a16="http://schemas.microsoft.com/office/drawing/2014/main" id="{4F636BEC-A351-C73D-96E0-2E1808CA7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588" y="2766060"/>
            <a:ext cx="274320" cy="274320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B3E22B39-AABF-A648-DEF7-9D2EF27799F6}"/>
              </a:ext>
            </a:extLst>
          </p:cNvPr>
          <p:cNvSpPr txBox="1"/>
          <p:nvPr/>
        </p:nvSpPr>
        <p:spPr>
          <a:xfrm>
            <a:off x="8019288" y="32644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mbria"/>
                <a:ea typeface="Cambria"/>
                <a:cs typeface="Cambria" pitchFamily="34" charset="-120"/>
              </a:rPr>
              <a:t>Evaluated Response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8D44422A-B9F2-4F5C-B64B-32E122AFF011}"/>
              </a:ext>
            </a:extLst>
          </p:cNvPr>
          <p:cNvSpPr txBox="1"/>
          <p:nvPr/>
        </p:nvSpPr>
        <p:spPr>
          <a:xfrm>
            <a:off x="8019288" y="35570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latin typeface="Calibri"/>
                <a:ea typeface="Calibri"/>
                <a:cs typeface="Calibri"/>
              </a:rPr>
              <a:t>Measured response speed across shifts, devices and panic button use</a:t>
            </a: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93063460-A142-4FAE-5E92-B9F49114604B}"/>
              </a:ext>
            </a:extLst>
          </p:cNvPr>
          <p:cNvSpPr/>
          <p:nvPr/>
        </p:nvSpPr>
        <p:spPr>
          <a:xfrm>
            <a:off x="548640" y="42519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54AD1D24-4232-62F7-5A54-8EDEF2F87BFC}"/>
              </a:ext>
            </a:extLst>
          </p:cNvPr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2" name="Image 3" descr="icons/tool.png">
            <a:extLst>
              <a:ext uri="{FF2B5EF4-FFF2-40B4-BE49-F238E27FC236}">
                <a16:creationId xmlns:a16="http://schemas.microsoft.com/office/drawing/2014/main" id="{DC642962-FA32-D6E6-923E-B767C7A3FD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" y="4594860"/>
            <a:ext cx="274320" cy="274320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92817AF9-5E8F-7285-9D7D-635189202FDF}"/>
              </a:ext>
            </a:extLst>
          </p:cNvPr>
          <p:cNvSpPr txBox="1"/>
          <p:nvPr/>
        </p:nvSpPr>
        <p:spPr>
          <a:xfrm>
            <a:off x="777240" y="50932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B2A55"/>
                </a:solidFill>
                <a:latin typeface="Cambria"/>
                <a:ea typeface="Cambria"/>
                <a:cs typeface="Cambria" pitchFamily="34" charset="-120"/>
              </a:rPr>
              <a:t>Infrastructure Impact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AE14BBFD-B055-A514-F0E1-CA214F0A2C2E}"/>
              </a:ext>
            </a:extLst>
          </p:cNvPr>
          <p:cNvSpPr txBox="1"/>
          <p:nvPr/>
        </p:nvSpPr>
        <p:spPr>
          <a:xfrm>
            <a:off x="777240" y="53858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ea typeface="+mn-lt"/>
                <a:cs typeface="+mn-lt"/>
              </a:rPr>
              <a:t>Proved the statistical value of functional CCTV and street lighting is deterring crimes.</a:t>
            </a:r>
            <a:endParaRPr lang="en-US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A190270-0CAC-959E-BB55-7059DC9A6263}"/>
              </a:ext>
            </a:extLst>
          </p:cNvPr>
          <p:cNvSpPr/>
          <p:nvPr/>
        </p:nvSpPr>
        <p:spPr>
          <a:xfrm>
            <a:off x="4169664" y="42519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0DDF25D2-3BDD-0456-DFE8-F6A5F6F74C3B}"/>
              </a:ext>
            </a:extLst>
          </p:cNvPr>
          <p:cNvSpPr/>
          <p:nvPr/>
        </p:nvSpPr>
        <p:spPr>
          <a:xfrm>
            <a:off x="4398264" y="44805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7" name="Image 4" descr="icons/barchart.png">
            <a:extLst>
              <a:ext uri="{FF2B5EF4-FFF2-40B4-BE49-F238E27FC236}">
                <a16:creationId xmlns:a16="http://schemas.microsoft.com/office/drawing/2014/main" id="{99FAE47F-04FD-19D0-7159-7976DCDB6B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2564" y="4594860"/>
            <a:ext cx="274320" cy="274320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90A74FED-C6F3-52F5-A54A-A4DEAEF0F73F}"/>
              </a:ext>
            </a:extLst>
          </p:cNvPr>
          <p:cNvSpPr txBox="1"/>
          <p:nvPr/>
        </p:nvSpPr>
        <p:spPr>
          <a:xfrm>
            <a:off x="4398264" y="50932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mbria"/>
                <a:ea typeface="Cambria"/>
                <a:cs typeface="Cambria" pitchFamily="34" charset="-120"/>
              </a:rPr>
              <a:t>Scored Priorities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DB941C77-AA10-F9B0-ABB8-ADBCE0DC7B72}"/>
              </a:ext>
            </a:extLst>
          </p:cNvPr>
          <p:cNvSpPr txBox="1"/>
          <p:nvPr/>
        </p:nvSpPr>
        <p:spPr>
          <a:xfrm>
            <a:off x="4398264" y="53858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latin typeface="Calibri"/>
                <a:ea typeface="Calibri"/>
                <a:cs typeface="Calibri"/>
              </a:rPr>
              <a:t>Built a composite score to rank locations for intervention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3055DA64-95FA-EAC8-68EE-B174FC8A8971}"/>
              </a:ext>
            </a:extLst>
          </p:cNvPr>
          <p:cNvSpPr/>
          <p:nvPr/>
        </p:nvSpPr>
        <p:spPr>
          <a:xfrm>
            <a:off x="7790688" y="4251960"/>
            <a:ext cx="3456432" cy="1627632"/>
          </a:xfrm>
          <a:prstGeom prst="roundRect">
            <a:avLst>
              <a:gd name="adj" fmla="val 4494"/>
            </a:avLst>
          </a:prstGeom>
          <a:solidFill>
            <a:srgbClr val="EAF0FB"/>
          </a:solidFill>
          <a:ln/>
        </p:spPr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4E3B5CE9-E6BA-2581-EB93-F971B12B3075}"/>
              </a:ext>
            </a:extLst>
          </p:cNvPr>
          <p:cNvSpPr/>
          <p:nvPr/>
        </p:nvSpPr>
        <p:spPr>
          <a:xfrm>
            <a:off x="8019288" y="4480560"/>
            <a:ext cx="502920" cy="5029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32" name="Image 5" descr="icons/layers.png">
            <a:extLst>
              <a:ext uri="{FF2B5EF4-FFF2-40B4-BE49-F238E27FC236}">
                <a16:creationId xmlns:a16="http://schemas.microsoft.com/office/drawing/2014/main" id="{0ADF2F86-0997-09CB-E9FB-D021A27879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3588" y="4594860"/>
            <a:ext cx="274320" cy="274320"/>
          </a:xfrm>
          <a:prstGeom prst="rect">
            <a:avLst/>
          </a:prstGeom>
        </p:spPr>
      </p:pic>
      <p:sp>
        <p:nvSpPr>
          <p:cNvPr id="33" name="Text 25">
            <a:extLst>
              <a:ext uri="{FF2B5EF4-FFF2-40B4-BE49-F238E27FC236}">
                <a16:creationId xmlns:a16="http://schemas.microsoft.com/office/drawing/2014/main" id="{B3D55239-60AA-CFFB-B309-C2440340FCA4}"/>
              </a:ext>
            </a:extLst>
          </p:cNvPr>
          <p:cNvSpPr txBox="1"/>
          <p:nvPr/>
        </p:nvSpPr>
        <p:spPr>
          <a:xfrm>
            <a:off x="8019288" y="50932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mbria"/>
                <a:ea typeface="Cambria"/>
                <a:cs typeface="Cambria" pitchFamily="34" charset="-120"/>
              </a:rPr>
              <a:t>Applied Advanced SQL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AFB95BF3-5042-7ED8-5318-931F36665E74}"/>
              </a:ext>
            </a:extLst>
          </p:cNvPr>
          <p:cNvSpPr txBox="1"/>
          <p:nvPr/>
        </p:nvSpPr>
        <p:spPr>
          <a:xfrm>
            <a:off x="8019288" y="538581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latin typeface="Calibri"/>
                <a:ea typeface="Calibri"/>
                <a:cs typeface="Calibri"/>
              </a:rPr>
              <a:t>CTEs, window functions, ranking &amp; lag analysis across 25+ queries</a:t>
            </a:r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39D764AB-BBC9-0105-A685-60E49C6338F7}"/>
              </a:ext>
            </a:extLst>
          </p:cNvPr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/>
                <a:ea typeface="Calibri"/>
                <a:cs typeface="Calibri"/>
              </a:rPr>
              <a:t>17</a:t>
            </a:r>
            <a:endParaRPr lang="en-US" sz="900" dirty="0">
              <a:solidFill>
                <a:srgbClr val="9AA5C0"/>
              </a:solidFill>
              <a:ea typeface="Calibri"/>
              <a:cs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B1374E-BBC1-4812-016F-854542EF0E34}"/>
              </a:ext>
            </a:extLst>
          </p:cNvPr>
          <p:cNvSpPr txBox="1"/>
          <p:nvPr/>
        </p:nvSpPr>
        <p:spPr>
          <a:xfrm>
            <a:off x="497840" y="6019800"/>
            <a:ext cx="85750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libri"/>
              </a:rPr>
              <a:t>Thank You! </a:t>
            </a:r>
            <a:endParaRPr lang="en-US" sz="11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7EF638-B74F-0BA8-39A6-BB6EC880FD7B}"/>
              </a:ext>
            </a:extLst>
          </p:cNvPr>
          <p:cNvSpPr txBox="1"/>
          <p:nvPr/>
        </p:nvSpPr>
        <p:spPr>
          <a:xfrm>
            <a:off x="10132845" y="6026504"/>
            <a:ext cx="1117600" cy="820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ea typeface="Calibri"/>
                <a:cs typeface="Calibri"/>
              </a:rPr>
              <a:t>Kartik Yadav</a:t>
            </a:r>
            <a:endParaRPr lang="en-US" sz="1400">
              <a:ea typeface="Calibri"/>
              <a:cs typeface="Calibri"/>
            </a:endParaRPr>
          </a:p>
          <a:p>
            <a:pPr algn="r"/>
            <a:r>
              <a:rPr lang="en-US" sz="1400" b="1" dirty="0">
                <a:solidFill>
                  <a:srgbClr val="FFFFFF"/>
                </a:solidFill>
                <a:ea typeface="Calibri"/>
                <a:cs typeface="Calibri"/>
                <a:hlinkClick r:id="rId10"/>
              </a:rPr>
              <a:t>Github</a:t>
            </a:r>
            <a:r>
              <a:rPr lang="en-US" sz="1400" b="1" dirty="0">
                <a:solidFill>
                  <a:srgbClr val="FFFFFF"/>
                </a:solidFill>
                <a:ea typeface="Calibri"/>
                <a:cs typeface="Calibri"/>
              </a:rPr>
              <a:t> </a:t>
            </a:r>
            <a:endParaRPr lang="en-US" sz="140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8771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412</cp:revision>
  <dcterms:created xsi:type="dcterms:W3CDTF">2026-09-10T03:55:22Z</dcterms:created>
  <dcterms:modified xsi:type="dcterms:W3CDTF">2026-09-11T07:01:32Z</dcterms:modified>
</cp:coreProperties>
</file>